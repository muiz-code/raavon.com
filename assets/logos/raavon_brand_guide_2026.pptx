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C19A6B">
              <a:alpha val="7000"/>
            </a:srgbClr>
          </a:solidFill>
          <a:ln w="12700">
            <a:solidFill>
              <a:srgbClr val="C19A6B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4E2C20">
              <a:alpha val="10000"/>
            </a:srgbClr>
          </a:solidFill>
          <a:ln w="12700">
            <a:solidFill>
              <a:srgbClr val="4E2C20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329184"/>
          </a:xfrm>
          <a:prstGeom prst="rect">
            <a:avLst/>
          </a:prstGeom>
          <a:solidFill>
            <a:srgbClr val="111009"/>
          </a:solidFill>
          <a:ln w="6350">
            <a:solidFill>
              <a:srgbClr val="2A1F1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0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 GROUP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6400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IDENTITY GUIDE  · 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-457200" y="1645920"/>
            <a:ext cx="1307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C19A6B">
                    <a:alpha val="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</a:t>
            </a:r>
            <a:endParaRPr lang="en-US" sz="160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</a:t>
            </a:r>
            <a:pPr indent="0" marL="0">
              <a:buNone/>
            </a:pPr>
            <a:r>
              <a:rPr lang="en-US" sz="8000" b="1" dirty="0">
                <a:solidFill>
                  <a:srgbClr val="4E2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2B4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spirit behind every brand.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1480" y="3291840"/>
            <a:ext cx="1280160" cy="0"/>
          </a:xfrm>
          <a:prstGeom prst="line">
            <a:avLst/>
          </a:prstGeom>
          <a:noFill/>
          <a:ln w="19050">
            <a:solidFill>
              <a:srgbClr val="C19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4747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 defines the complete visual and verbal identity of Raavon.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single source of truth for every design decision across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venture, every product, and every touchpoint.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it as law.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01200" y="2011680"/>
            <a:ext cx="1280160" cy="1280160"/>
          </a:xfrm>
          <a:prstGeom prst="ellipse">
            <a:avLst/>
          </a:prstGeom>
          <a:solidFill>
            <a:srgbClr val="1A1610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21945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4200" b="1" dirty="0">
                <a:solidFill>
                  <a:srgbClr val="4E2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411480" y="6400800"/>
            <a:ext cx="11338560" cy="0"/>
          </a:xfrm>
          <a:prstGeom prst="line">
            <a:avLst/>
          </a:prstGeom>
          <a:noFill/>
          <a:ln w="3810">
            <a:solidFill>
              <a:srgbClr val="2A1F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·  FOR INTERNAL &amp; PARTNER USE ONLY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0" y="6473952"/>
            <a:ext cx="1175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1.0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9184"/>
          </a:xfrm>
          <a:prstGeom prst="rect">
            <a:avLst/>
          </a:prstGeom>
          <a:solidFill>
            <a:srgbClr val="111009"/>
          </a:solidFill>
          <a:ln w="6350">
            <a:solidFill>
              <a:srgbClr val="2A1F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0" y="6400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BRAND PHILOSOPHY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0"/>
            <a:ext cx="11338560" cy="0"/>
          </a:xfrm>
          <a:prstGeom prst="line">
            <a:avLst/>
          </a:prstGeom>
          <a:noFill/>
          <a:ln w="6350">
            <a:solidFill>
              <a:srgbClr val="2A1F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 BRAND IDENTITY GUIDE  ·  2026  ·  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0" y="660196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10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502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WHO WE ARE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731520"/>
            <a:ext cx="11338560" cy="0"/>
          </a:xfrm>
          <a:prstGeom prst="line">
            <a:avLst/>
          </a:prstGeom>
          <a:noFill/>
          <a:ln w="6350">
            <a:solidFill>
              <a:srgbClr val="C19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229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things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11480" y="13716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19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define eras.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11480" y="201168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1480" y="21945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 is a global holding company built to bring ambitious ideas to life. We are not a consultancy. Not an agency. We are builders — people who see a gap and cannot rest until the solution exists.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78892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11480" y="29718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financial technology to fashion, from digital tools to cultural movements — every venture that carries the Raavon name is built with the same obsession: quality that makes people feel it was made specifically for them.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56616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THINK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11480" y="37490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move from idea to execution with speed and precision. We ship things that work. We don't wait for perfect conditions. We create them.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434340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11480" y="45262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 is being built one venture at a time. Each product proves the model. Each success funds the next. The empire is being built deliberately — and it is only beginning.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822960"/>
            <a:ext cx="4937760" cy="256032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822960"/>
            <a:ext cx="54864" cy="256032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0058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greatest ideas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not invented —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are revealed.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reveal them."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315468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Raavon Group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263640"/>
            <a:ext cx="12161520" cy="320040"/>
          </a:xfrm>
          <a:prstGeom prst="rect">
            <a:avLst/>
          </a:prstGeom>
          <a:solidFill>
            <a:srgbClr val="111009"/>
          </a:solidFill>
          <a:ln w="3810">
            <a:solidFill>
              <a:srgbClr val="2A1F1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6300216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PURPOSEFUL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432304" y="6300216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AMBITIOUS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64608" y="6300216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296912" y="6300216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729216" y="6300216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RELENTLESS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9184"/>
          </a:xfrm>
          <a:prstGeom prst="rect">
            <a:avLst/>
          </a:prstGeom>
          <a:solidFill>
            <a:srgbClr val="111009"/>
          </a:solidFill>
          <a:ln w="6350">
            <a:solidFill>
              <a:srgbClr val="2A1F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0" y="6400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COMPANY OBJECTIVES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0"/>
            <a:ext cx="11338560" cy="0"/>
          </a:xfrm>
          <a:prstGeom prst="line">
            <a:avLst/>
          </a:prstGeom>
          <a:noFill/>
          <a:ln w="6350">
            <a:solidFill>
              <a:srgbClr val="2A1F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 BRAND IDENTITY GUIDE  ·  2026  ·  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0" y="660196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10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502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OBJECTIVES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731520"/>
            <a:ext cx="11338560" cy="0"/>
          </a:xfrm>
          <a:prstGeom prst="line">
            <a:avLst/>
          </a:prstGeom>
          <a:noFill/>
          <a:ln w="6350">
            <a:solidFill>
              <a:srgbClr val="C19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purpose.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1371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formal objectives that govern every venture Raavon builds and owns.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737360"/>
            <a:ext cx="2731770" cy="118872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737360"/>
            <a:ext cx="54864" cy="118872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1828800"/>
            <a:ext cx="25946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21208" y="1993392"/>
            <a:ext cx="25946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Products &amp; Platforms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" y="2212848"/>
            <a:ext cx="25946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carry on business as a digital solutions studio, designing, developing, and deploying software products, mobile applications, and web-based platforms.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80410" y="1737360"/>
            <a:ext cx="2731770" cy="118872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80410" y="1737360"/>
            <a:ext cx="54864" cy="118872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0138" y="1828800"/>
            <a:ext cx="25946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90138" y="1993392"/>
            <a:ext cx="25946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Multi-Industry Technology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90138" y="2212848"/>
            <a:ext cx="25946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develop, own, operate, and commercialise technology products across multiple industries including financial technology, e-commerce, and digital media.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149340" y="1737360"/>
            <a:ext cx="2731770" cy="118872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9340" y="1737360"/>
            <a:ext cx="54864" cy="118872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9068" y="1828800"/>
            <a:ext cx="25946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259068" y="1993392"/>
            <a:ext cx="25946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Consulting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59068" y="2212848"/>
            <a:ext cx="25946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provide software development, product design, UX design, and technology consulting services to individuals, businesses, and organisations globally.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018270" y="1737360"/>
            <a:ext cx="2731770" cy="118872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18270" y="1737360"/>
            <a:ext cx="54864" cy="118872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27998" y="1828800"/>
            <a:ext cx="25946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127998" y="1993392"/>
            <a:ext cx="25946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Intelligence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27998" y="2212848"/>
            <a:ext cx="25946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develop, own, and operate financial technology platforms providing personal finance management, budgeting, savings, and AI-powered financial intelligence.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11480" y="3017520"/>
            <a:ext cx="2731770" cy="118872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017520"/>
            <a:ext cx="54864" cy="118872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" y="3108960"/>
            <a:ext cx="25946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21208" y="3273552"/>
            <a:ext cx="25946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Automation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1208" y="3493008"/>
            <a:ext cx="25946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provide artificial intelligence powered tools, data analytics, and automation solutions to businesses and individuals at global scale.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80410" y="3017520"/>
            <a:ext cx="2731770" cy="118872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80410" y="3017520"/>
            <a:ext cx="54864" cy="118872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90138" y="3108960"/>
            <a:ext cx="25946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390138" y="3273552"/>
            <a:ext cx="25946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Intellectual Property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90138" y="3493008"/>
            <a:ext cx="25946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acquire, hold, manage, and commercialise IP including trademarks, patents, software licences, domain names, and brand assets.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149340" y="3017520"/>
            <a:ext cx="2731770" cy="118872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49340" y="3017520"/>
            <a:ext cx="54864" cy="118872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9068" y="3108960"/>
            <a:ext cx="25946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59068" y="3273552"/>
            <a:ext cx="25946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59068" y="3493008"/>
            <a:ext cx="25946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enter into partnerships, joint ventures, and commercial agreements with local and international companies, financial institutions, and regulatory bodies.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9018270" y="3017520"/>
            <a:ext cx="2731770" cy="118872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18270" y="3017520"/>
            <a:ext cx="54864" cy="118872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27998" y="3108960"/>
            <a:ext cx="25946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9127998" y="3273552"/>
            <a:ext cx="25946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Authority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127998" y="3493008"/>
            <a:ext cx="25946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carry on any other business capable of being conveniently carried on in connection with the above objects or calculated to enhance the value of the company.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9184"/>
          </a:xfrm>
          <a:prstGeom prst="rect">
            <a:avLst/>
          </a:prstGeom>
          <a:solidFill>
            <a:srgbClr val="111009"/>
          </a:solidFill>
          <a:ln w="6350">
            <a:solidFill>
              <a:srgbClr val="2A1F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0" y="6400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LOGO &amp; IDENTITY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0"/>
            <a:ext cx="11338560" cy="0"/>
          </a:xfrm>
          <a:prstGeom prst="line">
            <a:avLst/>
          </a:prstGeom>
          <a:noFill/>
          <a:ln w="6350">
            <a:solidFill>
              <a:srgbClr val="2A1F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 BRAND IDENTITY GUIDE  ·  2026  ·  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0" y="660196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10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502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LOGO SYSTEM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731520"/>
            <a:ext cx="11338560" cy="0"/>
          </a:xfrm>
          <a:prstGeom prst="line">
            <a:avLst/>
          </a:prstGeom>
          <a:noFill/>
          <a:ln w="6350">
            <a:solidFill>
              <a:srgbClr val="C19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 of Raavon.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11480" y="1463040"/>
            <a:ext cx="5600700" cy="100584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691640"/>
            <a:ext cx="36576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</a:t>
            </a:r>
            <a:pPr indent="0" marL="0">
              <a:buNone/>
            </a:pPr>
            <a:r>
              <a:rPr lang="en-US" sz="2800" b="1" dirty="0">
                <a:solidFill>
                  <a:srgbClr val="4E2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" y="2240280"/>
            <a:ext cx="54178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Wordmark — Dark Background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149340" y="1463040"/>
            <a:ext cx="5600700" cy="1005840"/>
          </a:xfrm>
          <a:prstGeom prst="rect">
            <a:avLst/>
          </a:prstGeom>
          <a:solidFill>
            <a:srgbClr val="FAF7F2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2220" y="1691640"/>
            <a:ext cx="5326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2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40780" y="2240280"/>
            <a:ext cx="54178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Reversed Wordmark — Light Background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11480" y="2578608"/>
            <a:ext cx="5600700" cy="96012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43200"/>
            <a:ext cx="365760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</a:t>
            </a:r>
            <a:pPr indent="0" marL="0">
              <a:buNone/>
            </a:pPr>
            <a:r>
              <a:rPr lang="en-US" sz="2200" b="1" dirty="0">
                <a:solidFill>
                  <a:srgbClr val="4E2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4360" y="3090672"/>
            <a:ext cx="53263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 Company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337560"/>
            <a:ext cx="54178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 — With Descriptor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149340" y="2578608"/>
            <a:ext cx="5600700" cy="96012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32220" y="2743200"/>
            <a:ext cx="594360" cy="594360"/>
          </a:xfrm>
          <a:prstGeom prst="ellipse">
            <a:avLst/>
          </a:prstGeom>
          <a:solidFill>
            <a:srgbClr val="111009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2220" y="277977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2200" b="1" dirty="0">
                <a:solidFill>
                  <a:srgbClr val="4E2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109460" y="2743200"/>
            <a:ext cx="594360" cy="594360"/>
          </a:xfrm>
          <a:prstGeom prst="ellipse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09460" y="277977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2200" b="1" dirty="0">
                <a:solidFill>
                  <a:srgbClr val="4E2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886700" y="2743200"/>
            <a:ext cx="594360" cy="594360"/>
          </a:xfrm>
          <a:prstGeom prst="ellipse">
            <a:avLst/>
          </a:prstGeom>
          <a:solidFill>
            <a:srgbClr val="FAF7F2"/>
          </a:solidFill>
          <a:ln w="12700">
            <a:solidFill>
              <a:srgbClr val="4E2C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86700" y="277977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2200" b="1" dirty="0">
                <a:solidFill>
                  <a:srgbClr val="4E2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40780" y="3337560"/>
            <a:ext cx="54178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Favicon — Dark · Caramel · Light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11480" y="3767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ANATOMY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11480" y="39959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</a:t>
            </a:r>
            <a:pPr indent="0" marL="0">
              <a:buNone/>
            </a:pPr>
            <a:r>
              <a:rPr lang="en-US" sz="4800" b="1" dirty="0">
                <a:solidFill>
                  <a:srgbClr val="4E2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</a:t>
            </a:r>
            <a:endParaRPr lang="en-US" sz="4800" dirty="0"/>
          </a:p>
        </p:txBody>
      </p:sp>
      <p:sp>
        <p:nvSpPr>
          <p:cNvPr id="31" name="Shape 29"/>
          <p:cNvSpPr/>
          <p:nvPr/>
        </p:nvSpPr>
        <p:spPr>
          <a:xfrm>
            <a:off x="411480" y="4864608"/>
            <a:ext cx="1920240" cy="0"/>
          </a:xfrm>
          <a:prstGeom prst="line">
            <a:avLst/>
          </a:prstGeom>
          <a:noFill/>
          <a:ln w="6350">
            <a:solidFill>
              <a:srgbClr val="FAF7F2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11480" y="4937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  —  Off-White #FAF7F2  ·  Light, open, warm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514600" y="4864608"/>
            <a:ext cx="1280160" cy="0"/>
          </a:xfrm>
          <a:prstGeom prst="line">
            <a:avLst/>
          </a:prstGeom>
          <a:noFill/>
          <a:ln w="6350">
            <a:solidFill>
              <a:srgbClr val="4E2C2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2514600" y="49377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E2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 —  Mahogany #4E2C20  ·  Deep, grounded, authoritative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583680" y="3767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RULES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583680" y="40233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9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326880" y="40233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DON'T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75120" y="42702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Use on dark #0A0A0A or off-white #FAF7F2 only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675120" y="45262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Maintain clear space equal to cap-height on all sides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675120" y="47823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Use supplied vector SVG files exclusively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418320" y="42702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Change the two-tone colour treatment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9418320" y="45262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Add drop shadows, outlines, or effects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418320" y="47823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Place on busy photographic backgrounds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9184"/>
          </a:xfrm>
          <a:prstGeom prst="rect">
            <a:avLst/>
          </a:prstGeom>
          <a:solidFill>
            <a:srgbClr val="111009"/>
          </a:solidFill>
          <a:ln w="6350">
            <a:solidFill>
              <a:srgbClr val="2A1F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0" y="6400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COLOUR PALETTE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0"/>
            <a:ext cx="11338560" cy="0"/>
          </a:xfrm>
          <a:prstGeom prst="line">
            <a:avLst/>
          </a:prstGeom>
          <a:noFill/>
          <a:ln w="6350">
            <a:solidFill>
              <a:srgbClr val="2A1F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 BRAND IDENTITY GUIDE  ·  2026  ·  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0" y="660196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10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502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COLOURS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731520"/>
            <a:ext cx="11338560" cy="0"/>
          </a:xfrm>
          <a:prstGeom prst="line">
            <a:avLst/>
          </a:prstGeom>
          <a:noFill/>
          <a:ln w="6350">
            <a:solidFill>
              <a:srgbClr val="C19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Warmth with authority.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1371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colour was chosen with intention. Together they tell a story of warmth, trust, and ambition without limit.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6916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PALETTE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11480" y="1920240"/>
            <a:ext cx="2194560" cy="1097280"/>
          </a:xfrm>
          <a:prstGeom prst="rect">
            <a:avLst/>
          </a:prstGeom>
          <a:solidFill>
            <a:srgbClr val="C19A6B"/>
          </a:solidFill>
          <a:ln w="12700">
            <a:solidFill>
              <a:srgbClr val="2A1F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9933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CARAMEL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" y="27889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#C19A6B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11480" y="30723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11480" y="32369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Warmth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Ambition · Gold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697480" y="1920240"/>
            <a:ext cx="2194560" cy="1097280"/>
          </a:xfrm>
          <a:prstGeom prst="rect">
            <a:avLst/>
          </a:prstGeom>
          <a:solidFill>
            <a:srgbClr val="4E2C20"/>
          </a:solidFill>
          <a:ln w="12700">
            <a:solidFill>
              <a:srgbClr val="2A1F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70632" y="19933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MAHOGANY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70632" y="27889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#4E2C20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697480" y="30723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697480" y="32369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· Authority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983480" y="1920240"/>
            <a:ext cx="2194560" cy="1097280"/>
          </a:xfrm>
          <a:prstGeom prst="rect">
            <a:avLst/>
          </a:prstGeom>
          <a:solidFill>
            <a:srgbClr val="D2B48C"/>
          </a:solidFill>
          <a:ln w="12700">
            <a:solidFill>
              <a:srgbClr val="2A1F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56632" y="19933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56632" y="27889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#D2B48C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983480" y="30723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983480" y="32369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Softness · Accent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269480" y="1920240"/>
            <a:ext cx="2194560" cy="1097280"/>
          </a:xfrm>
          <a:prstGeom prst="rect">
            <a:avLst/>
          </a:prstGeom>
          <a:solidFill>
            <a:srgbClr val="0A0A0A"/>
          </a:solidFill>
          <a:ln w="12700">
            <a:solidFill>
              <a:srgbClr val="2A1F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42632" y="19933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42632" y="27889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#0A0A0A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269480" y="30723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Dark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269480" y="32369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 · Ground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9555480" y="1920240"/>
            <a:ext cx="2194560" cy="1097280"/>
          </a:xfrm>
          <a:prstGeom prst="rect">
            <a:avLst/>
          </a:prstGeom>
          <a:solidFill>
            <a:srgbClr val="FAF7F2"/>
          </a:solidFill>
          <a:ln w="12700">
            <a:solidFill>
              <a:srgbClr val="2A1F1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28632" y="19933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OFF-WHITE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628632" y="27889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#FAF7F2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555480" y="30723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Light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9555480" y="32369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· Premium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11480" y="3749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&amp; UI COLOURS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11480" y="3977640"/>
            <a:ext cx="1813560" cy="548640"/>
          </a:xfrm>
          <a:prstGeom prst="rect">
            <a:avLst/>
          </a:prstGeom>
          <a:solidFill>
            <a:srgbClr val="111009"/>
          </a:solidFill>
          <a:ln w="3810">
            <a:solidFill>
              <a:srgbClr val="2A1F1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032504"/>
            <a:ext cx="1740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SURFACE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57200" y="4343400"/>
            <a:ext cx="1740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#111009</a:t>
            </a:r>
            <a:endParaRPr lang="en-US" sz="550" dirty="0"/>
          </a:p>
        </p:txBody>
      </p:sp>
      <p:sp>
        <p:nvSpPr>
          <p:cNvPr id="42" name="Shape 40"/>
          <p:cNvSpPr/>
          <p:nvPr/>
        </p:nvSpPr>
        <p:spPr>
          <a:xfrm>
            <a:off x="2316480" y="3977640"/>
            <a:ext cx="1813560" cy="548640"/>
          </a:xfrm>
          <a:prstGeom prst="rect">
            <a:avLst/>
          </a:prstGeom>
          <a:solidFill>
            <a:srgbClr val="1A1610"/>
          </a:solidFill>
          <a:ln w="3810">
            <a:solidFill>
              <a:srgbClr val="2A1F1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62200" y="4032504"/>
            <a:ext cx="1740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CARD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2362200" y="4343400"/>
            <a:ext cx="1740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#1A1610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4221480" y="3977640"/>
            <a:ext cx="1813560" cy="548640"/>
          </a:xfrm>
          <a:prstGeom prst="rect">
            <a:avLst/>
          </a:prstGeom>
          <a:solidFill>
            <a:srgbClr val="2A1F10"/>
          </a:solidFill>
          <a:ln w="3810">
            <a:solidFill>
              <a:srgbClr val="2A1F1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67200" y="4032504"/>
            <a:ext cx="1740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CARAMEL DIM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4267200" y="4343400"/>
            <a:ext cx="1740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#2A1F10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6126480" y="3977640"/>
            <a:ext cx="1813560" cy="548640"/>
          </a:xfrm>
          <a:prstGeom prst="rect">
            <a:avLst/>
          </a:prstGeom>
          <a:solidFill>
            <a:srgbClr val="FAF7F2"/>
          </a:solidFill>
          <a:ln w="3810">
            <a:solidFill>
              <a:srgbClr val="2A1F1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4032504"/>
            <a:ext cx="1740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OFF-WHITE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172200" y="4343400"/>
            <a:ext cx="1740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#FAF7F2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8031480" y="3977640"/>
            <a:ext cx="1813560" cy="548640"/>
          </a:xfrm>
          <a:prstGeom prst="rect">
            <a:avLst/>
          </a:prstGeom>
          <a:solidFill>
            <a:srgbClr val="F2EDE4"/>
          </a:solidFill>
          <a:ln w="3810">
            <a:solidFill>
              <a:srgbClr val="2A1F1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77200" y="4032504"/>
            <a:ext cx="1740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SURFACE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8077200" y="4343400"/>
            <a:ext cx="1740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#F2EDE4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9936480" y="3977640"/>
            <a:ext cx="1813560" cy="548640"/>
          </a:xfrm>
          <a:prstGeom prst="rect">
            <a:avLst/>
          </a:prstGeom>
          <a:solidFill>
            <a:srgbClr val="8A7A6A"/>
          </a:solidFill>
          <a:ln w="3810">
            <a:solidFill>
              <a:srgbClr val="2A1F1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82200" y="4032504"/>
            <a:ext cx="1740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MUTED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9982200" y="4343400"/>
            <a:ext cx="1740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#8A7A6A</a:t>
            </a:r>
            <a:endParaRPr lang="en-US" sz="550" dirty="0"/>
          </a:p>
        </p:txBody>
      </p:sp>
      <p:sp>
        <p:nvSpPr>
          <p:cNvPr id="57" name="Text 55"/>
          <p:cNvSpPr/>
          <p:nvPr/>
        </p:nvSpPr>
        <p:spPr>
          <a:xfrm>
            <a:off x="411480" y="47091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USAGE GUIDE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29768" y="4937760"/>
            <a:ext cx="146304" cy="146304"/>
          </a:xfrm>
          <a:prstGeom prst="ellipse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9224" y="49286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CARAMEL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103120" y="492861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CTAs, headings, rule lines, active states, gold accents throughout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29768" y="5212080"/>
            <a:ext cx="146304" cy="146304"/>
          </a:xfrm>
          <a:prstGeom prst="ellipse">
            <a:avLst/>
          </a:prstGeom>
          <a:solidFill>
            <a:srgbClr val="4E2C20"/>
          </a:solidFill>
          <a:ln w="12700">
            <a:solidFill>
              <a:srgbClr val="4E2C2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9224" y="520293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MAHOGANY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103120" y="52029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secondary, hover states, depth cards, dark overlays and fills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29768" y="5486400"/>
            <a:ext cx="146304" cy="146304"/>
          </a:xfrm>
          <a:prstGeom prst="ellipse">
            <a:avLst/>
          </a:prstGeom>
          <a:solidFill>
            <a:srgbClr val="D2B48C"/>
          </a:solidFill>
          <a:ln w="12700">
            <a:solidFill>
              <a:srgbClr val="D2B48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9224" y="5477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103120" y="547725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Borders, dividers, quote text, supportive graphic elements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29768" y="5760720"/>
            <a:ext cx="146304" cy="14630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9224" y="57515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2103120" y="575157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 page background, high-contrast text and elements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29768" y="6035040"/>
            <a:ext cx="146304" cy="146304"/>
          </a:xfrm>
          <a:prstGeom prst="ellipse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9224" y="60258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OFF-WHITE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2103120" y="602589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 backgrounds, primary body text in dark mode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9184"/>
          </a:xfrm>
          <a:prstGeom prst="rect">
            <a:avLst/>
          </a:prstGeom>
          <a:solidFill>
            <a:srgbClr val="111009"/>
          </a:solidFill>
          <a:ln w="6350">
            <a:solidFill>
              <a:srgbClr val="2A1F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0" y="6400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TYPOGRAPHY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0"/>
            <a:ext cx="11338560" cy="0"/>
          </a:xfrm>
          <a:prstGeom prst="line">
            <a:avLst/>
          </a:prstGeom>
          <a:noFill/>
          <a:ln w="6350">
            <a:solidFill>
              <a:srgbClr val="2A1F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 BRAND IDENTITY GUIDE  ·  2026  ·  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0" y="660196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10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502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TYPE SYSTEM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731520"/>
            <a:ext cx="11338560" cy="0"/>
          </a:xfrm>
          <a:prstGeom prst="line">
            <a:avLst/>
          </a:prstGeom>
          <a:noFill/>
          <a:ln w="6350">
            <a:solidFill>
              <a:srgbClr val="C19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with weight.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137160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BRICOLAGE GROTESQUE — DISPLAY &amp; HEADINGS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0" y="1371600"/>
            <a:ext cx="1175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Headings · Hero · Brand name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1480" y="1572768"/>
            <a:ext cx="1124712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Made Real.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11480" y="2160016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/ Headings  ·  Commanding, editorial, modern authority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11480" y="2361184"/>
            <a:ext cx="11338560" cy="0"/>
          </a:xfrm>
          <a:prstGeom prst="line">
            <a:avLst/>
          </a:prstGeom>
          <a:noFill/>
          <a:ln w="3810">
            <a:solidFill>
              <a:srgbClr val="2A1F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7091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CRIMSON PRO ITALIC — ACCENT &amp; EMOTION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0" y="2470912"/>
            <a:ext cx="1175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Taglines · Quotes · Italics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11480" y="2672080"/>
            <a:ext cx="1124712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2B4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spirit behind every brand.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1480" y="310692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/ Emotion  ·  Poetic, warm, sophisticated whisper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11480" y="3308096"/>
            <a:ext cx="11338560" cy="0"/>
          </a:xfrm>
          <a:prstGeom prst="line">
            <a:avLst/>
          </a:prstGeom>
          <a:noFill/>
          <a:ln w="3810">
            <a:solidFill>
              <a:srgbClr val="2A1F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1782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OUTFIT — BODY &amp; UI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0" y="3417824"/>
            <a:ext cx="1175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· Labels · UI · Nav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11480" y="3618992"/>
            <a:ext cx="1124712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things people actually need. Simple as that.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395224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/ UI  ·  Clean, human, readable everywhere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11480" y="4153408"/>
            <a:ext cx="11338560" cy="0"/>
          </a:xfrm>
          <a:prstGeom prst="line">
            <a:avLst/>
          </a:prstGeom>
          <a:noFill/>
          <a:ln w="3810">
            <a:solidFill>
              <a:srgbClr val="2A1F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2631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SANS — LABELS &amp; META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0" y="4263136"/>
            <a:ext cx="1175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· Metadata · Captions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11480" y="4464304"/>
            <a:ext cx="1124712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 ·  BRAND PHILOSOPHY  ·  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746752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/ Meta  ·  Precise, functional, structured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11480" y="4947920"/>
            <a:ext cx="11338560" cy="0"/>
          </a:xfrm>
          <a:prstGeom prst="line">
            <a:avLst/>
          </a:prstGeom>
          <a:noFill/>
          <a:ln w="3810">
            <a:solidFill>
              <a:srgbClr val="2A1F1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50576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SCALE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11480" y="5286248"/>
            <a:ext cx="11338560" cy="256032"/>
          </a:xfrm>
          <a:prstGeom prst="rect">
            <a:avLst/>
          </a:prstGeom>
          <a:solidFill>
            <a:srgbClr val="111009"/>
          </a:solidFill>
          <a:ln w="12700">
            <a:solidFill>
              <a:srgbClr val="2A1F1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53319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533196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54880" y="53319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035040" y="533196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11480" y="5542280"/>
            <a:ext cx="11338560" cy="256032"/>
          </a:xfrm>
          <a:prstGeom prst="rect">
            <a:avLst/>
          </a:prstGeom>
          <a:solidFill>
            <a:srgbClr val="1F1A12"/>
          </a:solidFill>
          <a:ln w="12700">
            <a:solidFill>
              <a:srgbClr val="2A1F1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5880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468880" y="55880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Bold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4880" y="55880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42–60pt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035040" y="558800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titles, hero headline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" y="58440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468880" y="5844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Bold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54880" y="58440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28–36pt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35040" y="584403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headings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11480" y="6054344"/>
            <a:ext cx="11338560" cy="256032"/>
          </a:xfrm>
          <a:prstGeom prst="rect">
            <a:avLst/>
          </a:prstGeom>
          <a:solidFill>
            <a:srgbClr val="1F1A12"/>
          </a:solidFill>
          <a:ln w="12700">
            <a:solidFill>
              <a:srgbClr val="2A1F1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610006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468880" y="61000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Bold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54880" y="610006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20–24pt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35040" y="610006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Sub-section headings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9184"/>
          </a:xfrm>
          <a:prstGeom prst="rect">
            <a:avLst/>
          </a:prstGeom>
          <a:solidFill>
            <a:srgbClr val="111009"/>
          </a:solidFill>
          <a:ln w="6350">
            <a:solidFill>
              <a:srgbClr val="2A1F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0" y="6400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VOICE &amp; TONE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0"/>
            <a:ext cx="11338560" cy="0"/>
          </a:xfrm>
          <a:prstGeom prst="line">
            <a:avLst/>
          </a:prstGeom>
          <a:noFill/>
          <a:ln w="6350">
            <a:solidFill>
              <a:srgbClr val="2A1F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 BRAND IDENTITY GUIDE  ·  2026  ·  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0" y="660196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10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502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BRAND VOICE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731520"/>
            <a:ext cx="11338560" cy="0"/>
          </a:xfrm>
          <a:prstGeom prst="line">
            <a:avLst/>
          </a:prstGeom>
          <a:noFill/>
          <a:ln w="6350">
            <a:solidFill>
              <a:srgbClr val="C19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Raavon speaks.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1325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 speaks like a brilliant, trusted friend — not a corporation, not a startup trying too hard. Direct. Warm. Confident. Never bloated.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673352"/>
            <a:ext cx="2731770" cy="137160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1783080"/>
            <a:ext cx="25488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" y="2020824"/>
            <a:ext cx="25488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D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know what we're building and why. Short sentences. Direct points. We never hedge or apologise.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80410" y="1673352"/>
            <a:ext cx="2731770" cy="1371600"/>
          </a:xfrm>
          <a:prstGeom prst="rect">
            <a:avLst/>
          </a:prstGeom>
          <a:solidFill>
            <a:srgbClr val="8B6A3A"/>
          </a:solidFill>
          <a:ln w="12700">
            <a:solidFill>
              <a:srgbClr val="8B6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90138" y="1783080"/>
            <a:ext cx="25488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90138" y="2020824"/>
            <a:ext cx="25488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D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understand the people we build for. We speak their language — not corporate jargon or textbook English.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49340" y="1673352"/>
            <a:ext cx="2731770" cy="1371600"/>
          </a:xfrm>
          <a:prstGeom prst="rect">
            <a:avLst/>
          </a:prstGeom>
          <a:solidFill>
            <a:srgbClr val="6B4A30"/>
          </a:solidFill>
          <a:ln w="12700">
            <a:solidFill>
              <a:srgbClr val="6B4A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9068" y="1783080"/>
            <a:ext cx="25488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59068" y="2020824"/>
            <a:ext cx="25488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D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oversell. If something is in development, we say so. Truth builds more trust than polish.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018270" y="1673352"/>
            <a:ext cx="2731770" cy="1371600"/>
          </a:xfrm>
          <a:prstGeom prst="rect">
            <a:avLst/>
          </a:prstGeom>
          <a:solidFill>
            <a:srgbClr val="4E2C20"/>
          </a:solidFill>
          <a:ln w="12700">
            <a:solidFill>
              <a:srgbClr val="4E2C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27998" y="1783080"/>
            <a:ext cx="25488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AMBITIOUS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27998" y="2020824"/>
            <a:ext cx="25488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D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sentence should feel like it's going somewhere meaningful. Think big. Always. No small thinking.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2918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SAY — DON'T SAY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11480" y="3547872"/>
            <a:ext cx="11338560" cy="329184"/>
          </a:xfrm>
          <a:prstGeom prst="rect">
            <a:avLst/>
          </a:prstGeom>
          <a:solidFill>
            <a:srgbClr val="111009"/>
          </a:solidFill>
          <a:ln w="12700">
            <a:solidFill>
              <a:srgbClr val="2A1F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210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9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 SAY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45352" y="36210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DON'T SAY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11480" y="3877056"/>
            <a:ext cx="11338560" cy="329184"/>
          </a:xfrm>
          <a:prstGeom prst="rect">
            <a:avLst/>
          </a:prstGeom>
          <a:solidFill>
            <a:srgbClr val="1F1A12"/>
          </a:solidFill>
          <a:ln w="12700">
            <a:solidFill>
              <a:srgbClr val="2A1F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950208"/>
            <a:ext cx="5559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We build things people need.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91072" y="3950208"/>
            <a:ext cx="5504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We leverage synergistic solutions.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8640" y="4279392"/>
            <a:ext cx="5559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It's live. Go use it.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91072" y="4279392"/>
            <a:ext cx="5504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We are pleased to announce the launch of...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1480" y="4535424"/>
            <a:ext cx="11338560" cy="329184"/>
          </a:xfrm>
          <a:prstGeom prst="rect">
            <a:avLst/>
          </a:prstGeom>
          <a:solidFill>
            <a:srgbClr val="1F1A12"/>
          </a:solidFill>
          <a:ln w="12700">
            <a:solidFill>
              <a:srgbClr val="2A1F1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608576"/>
            <a:ext cx="5559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Your money, finally making sense.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91072" y="4608576"/>
            <a:ext cx="5504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Our proprietary AI-driven platform optimises...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8640" y="4937760"/>
            <a:ext cx="5559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Born to build. Built to last.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91072" y="4937760"/>
            <a:ext cx="5504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We are a global multi-industry technology company.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11480" y="5193792"/>
            <a:ext cx="11338560" cy="329184"/>
          </a:xfrm>
          <a:prstGeom prst="rect">
            <a:avLst/>
          </a:prstGeom>
          <a:solidFill>
            <a:srgbClr val="1F1A12"/>
          </a:solidFill>
          <a:ln w="12700">
            <a:solidFill>
              <a:srgbClr val="2A1F1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266944"/>
            <a:ext cx="5559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It works. We tested it.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91072" y="5266944"/>
            <a:ext cx="5504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Our rigorous QA process ensures platform reliability.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9184"/>
          </a:xfrm>
          <a:prstGeom prst="rect">
            <a:avLst/>
          </a:prstGeom>
          <a:solidFill>
            <a:srgbClr val="111009"/>
          </a:solidFill>
          <a:ln w="6350">
            <a:solidFill>
              <a:srgbClr val="2A1F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0" y="6400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DESIGN PRINCIPLES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0"/>
            <a:ext cx="11338560" cy="0"/>
          </a:xfrm>
          <a:prstGeom prst="line">
            <a:avLst/>
          </a:prstGeom>
          <a:noFill/>
          <a:ln w="6350">
            <a:solidFill>
              <a:srgbClr val="2A1F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 BRAND IDENTITY GUIDE  ·  2026  ·  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0" y="660196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10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502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DESIGN PRINCIPLES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731520"/>
            <a:ext cx="11338560" cy="0"/>
          </a:xfrm>
          <a:prstGeom prst="line">
            <a:avLst/>
          </a:prstGeom>
          <a:noFill/>
          <a:ln w="6350">
            <a:solidFill>
              <a:srgbClr val="C19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behind the beauty.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11480" y="1463040"/>
            <a:ext cx="3688080" cy="137160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463040"/>
            <a:ext cx="54864" cy="137160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1554480"/>
            <a:ext cx="350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1208" y="1737360"/>
            <a:ext cx="350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WARMTH FIRST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" y="1965960"/>
            <a:ext cx="350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design decision starts with warmth. If it feels cold, corporate, or unfriendly — it is wrong. Caramel and mahogany were chosen because they feel like home.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36720" y="1463040"/>
            <a:ext cx="3688080" cy="137160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36720" y="1463040"/>
            <a:ext cx="54864" cy="137160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6448" y="1554480"/>
            <a:ext cx="350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46448" y="1737360"/>
            <a:ext cx="350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IS PREMIUM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46448" y="1965960"/>
            <a:ext cx="350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fill space for the sake of it. Dark space is not emptiness. It is confidence. It says: we don't need to shout. Use it deliberately.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61960" y="1463040"/>
            <a:ext cx="3688080" cy="137160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61960" y="1463040"/>
            <a:ext cx="54864" cy="137160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1688" y="1554480"/>
            <a:ext cx="350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171688" y="1737360"/>
            <a:ext cx="350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 AS DESIGN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71688" y="1965960"/>
            <a:ext cx="350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are not just information — they are visual elements. Every font, size, and weight is a deliberate decision. Bricolage commands. Georgia whispers. Arial informs.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2944368"/>
            <a:ext cx="3688080" cy="137160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2944368"/>
            <a:ext cx="54864" cy="137160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3035808"/>
            <a:ext cx="350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1208" y="3218688"/>
            <a:ext cx="350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OVER CLEVERNESS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" y="3447288"/>
            <a:ext cx="350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consistent system beats a clever one-off every time. Every component, screen, and document should feel unmistakably Raavon.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36720" y="2944368"/>
            <a:ext cx="3688080" cy="137160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36720" y="2944368"/>
            <a:ext cx="54864" cy="137160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6448" y="3035808"/>
            <a:ext cx="350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46448" y="3218688"/>
            <a:ext cx="350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IS DEFAULT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46448" y="3447288"/>
            <a:ext cx="350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primary context is dark mode. Design dark first, then adapt for light. The dark palette is where the Raavon identity lives most powerfully.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061960" y="2944368"/>
            <a:ext cx="3688080" cy="137160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61960" y="2944368"/>
            <a:ext cx="54864" cy="137160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71688" y="3035808"/>
            <a:ext cx="350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171688" y="3218688"/>
            <a:ext cx="350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ARE THE BRAND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71688" y="3447288"/>
            <a:ext cx="350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 rule line. The two-tone wordmark. The R. favicon. The grain texture. These are not decoration — they are the brand. Never skip them.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11480" y="44805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 THESE BRAND MARKERS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11480" y="4709160"/>
            <a:ext cx="27317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Rule Line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11480" y="4910328"/>
            <a:ext cx="2731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caramel horizontal divider — used across all documents and UI screens.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280410" y="4709160"/>
            <a:ext cx="27317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Two-tone Wordmark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80410" y="4910328"/>
            <a:ext cx="2731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Raa in off-white, von in mahogany. Never reverse. Never single colour.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149340" y="4709160"/>
            <a:ext cx="27317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Favicon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149340" y="4910328"/>
            <a:ext cx="2731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icon for app icon, tab icon, and brand stamp at small sizes.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9018270" y="4709160"/>
            <a:ext cx="27317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Grain Texture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018270" y="4910328"/>
            <a:ext cx="2731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Subtle noise overlay on dark backgrounds. Adds warmth. Never on white.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9184"/>
          </a:xfrm>
          <a:prstGeom prst="rect">
            <a:avLst/>
          </a:prstGeom>
          <a:solidFill>
            <a:srgbClr val="111009"/>
          </a:solidFill>
          <a:ln w="6350">
            <a:solidFill>
              <a:srgbClr val="2A1F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0" y="6400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VENTURES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0"/>
            <a:ext cx="11338560" cy="0"/>
          </a:xfrm>
          <a:prstGeom prst="line">
            <a:avLst/>
          </a:prstGeom>
          <a:noFill/>
          <a:ln w="6350">
            <a:solidFill>
              <a:srgbClr val="2A1F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 BRAND IDENTITY GUIDE  ·  2026  ·  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0" y="660196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10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502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VENTURES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731520"/>
            <a:ext cx="11338560" cy="0"/>
          </a:xfrm>
          <a:prstGeom prst="line">
            <a:avLst/>
          </a:prstGeom>
          <a:noFill/>
          <a:ln w="6350">
            <a:solidFill>
              <a:srgbClr val="C19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22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brand begins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129844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19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one idea.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11480" y="1783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 builds ventures across industries. Each one starts as an idea the world needs. Each one is executed to the highest standard.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194560"/>
            <a:ext cx="11338560" cy="1828800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194560"/>
            <a:ext cx="54864" cy="182880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194560"/>
            <a:ext cx="45720" cy="182880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317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 ·  AI  ·  PERSONAL FINANCE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94360" y="2514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Venture 01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4360" y="30632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Personal Finance Management platform — unifying bank accounts,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spending intelligently, automating savings into real bank accounts,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enabling in-app bill payments. All in one place.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3749040"/>
            <a:ext cx="128016" cy="128016"/>
          </a:xfrm>
          <a:prstGeom prst="ellipse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721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Active Development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635240" y="2377440"/>
            <a:ext cx="91440" cy="91440"/>
          </a:xfrm>
          <a:prstGeom prst="ellipse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3500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bank dashboard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35240" y="2706624"/>
            <a:ext cx="91440" cy="91440"/>
          </a:xfrm>
          <a:prstGeom prst="ellipse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26791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financial assistant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35240" y="3035808"/>
            <a:ext cx="91440" cy="91440"/>
          </a:xfrm>
          <a:prstGeom prst="ellipse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0083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Bank-integrated savings goals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35240" y="3364992"/>
            <a:ext cx="91440" cy="91440"/>
          </a:xfrm>
          <a:prstGeom prst="ellipse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33375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bill payments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35240" y="3694176"/>
            <a:ext cx="91440" cy="91440"/>
          </a:xfrm>
          <a:prstGeom prst="ellipse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6667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financial manager tier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4160520"/>
            <a:ext cx="5600700" cy="960120"/>
          </a:xfrm>
          <a:prstGeom prst="rect">
            <a:avLst/>
          </a:prstGeom>
          <a:solidFill>
            <a:srgbClr val="1A1610">
              <a:alpha val="60000"/>
            </a:srgbClr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251960"/>
            <a:ext cx="5372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5A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  ·  CULTURE  ·  IDENTITY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8640" y="4434840"/>
            <a:ext cx="53721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Venture 02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8640" y="48006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fashion label rooted in global identity and cultural ambition.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49340" y="4160520"/>
            <a:ext cx="5600700" cy="960120"/>
          </a:xfrm>
          <a:prstGeom prst="rect">
            <a:avLst/>
          </a:prstGeom>
          <a:solidFill>
            <a:srgbClr val="1A1610">
              <a:alpha val="60000"/>
            </a:srgbClr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6500" y="4251960"/>
            <a:ext cx="5372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5A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 ·  TOOLS  ·  INFRASTRUCTURE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286500" y="4434840"/>
            <a:ext cx="53721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Venture 03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286500" y="48006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tools solving real problems. Engineered to global standard.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11480" y="5230368"/>
            <a:ext cx="11338560" cy="384048"/>
          </a:xfrm>
          <a:prstGeom prst="rect">
            <a:avLst/>
          </a:prstGeom>
          <a:solidFill>
            <a:srgbClr val="2A1F10"/>
          </a:solidFill>
          <a:ln w="5080">
            <a:solidFill>
              <a:srgbClr val="C19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532180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2B4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Raavon is the studio. Each venture proves the model. Together they build the empire.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9184"/>
          </a:xfrm>
          <a:prstGeom prst="rect">
            <a:avLst/>
          </a:prstGeom>
          <a:solidFill>
            <a:srgbClr val="111009"/>
          </a:solidFill>
          <a:ln w="6350">
            <a:solidFill>
              <a:srgbClr val="2A1F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0" y="6400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BRAND IN ACTION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0"/>
            <a:ext cx="11338560" cy="0"/>
          </a:xfrm>
          <a:prstGeom prst="line">
            <a:avLst/>
          </a:prstGeom>
          <a:noFill/>
          <a:ln w="6350">
            <a:solidFill>
              <a:srgbClr val="2A1F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 BRAND IDENTITY GUIDE  ·  2026  ·  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0" y="6601968"/>
            <a:ext cx="1175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10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502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BRAND IN ACTION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731520"/>
            <a:ext cx="11338560" cy="0"/>
          </a:xfrm>
          <a:prstGeom prst="line">
            <a:avLst/>
          </a:prstGeom>
          <a:noFill/>
          <a:ln w="6350">
            <a:solidFill>
              <a:srgbClr val="C19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brand is the promise.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11480" y="1371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2B4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pixel, every word, every product — carries this promise.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737360"/>
            <a:ext cx="11338560" cy="749808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01400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19A6B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76072" y="182880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DOCUMENT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76072" y="204825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Raavon wordmark top left. Gold rule divider. Dark background. Footer with page number. Always.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578608"/>
            <a:ext cx="11338560" cy="749808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0140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19A6B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6072" y="2670048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UI SCREEN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76072" y="28895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Two-tone logo in navbar. Caramel primary actions. Dark card surfaces. Clean type hierarchy throughout.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419856"/>
            <a:ext cx="11338560" cy="749808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014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19A6B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76072" y="351129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COMMUNICATION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76072" y="3730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opening. No jargon. Short sentences. One clear message. Raavon sign-off.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261104"/>
            <a:ext cx="11338560" cy="749808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0140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19A6B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76072" y="4352544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PRODUCT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76072" y="4572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 warm. Loads fast. Works exactly as described. No excuses. Ship quality or don't ship.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5102352"/>
            <a:ext cx="11338560" cy="749808"/>
          </a:xfrm>
          <a:prstGeom prst="rect">
            <a:avLst/>
          </a:prstGeom>
          <a:solidFill>
            <a:srgbClr val="1A1610"/>
          </a:solidFill>
          <a:ln w="5080">
            <a:solidFill>
              <a:srgbClr val="2A1F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01400" y="5157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19A6B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76072" y="519379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19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PARTNERSHIP DECK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76072" y="54132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E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Professional. Formatted. Global ambition stated clearly. Raavon as the holding entity throughout.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6080760"/>
            <a:ext cx="11338560" cy="0"/>
          </a:xfrm>
          <a:prstGeom prst="line">
            <a:avLst/>
          </a:prstGeom>
          <a:noFill/>
          <a:ln w="3810">
            <a:solidFill>
              <a:srgbClr val="2A1F1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615391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</a:t>
            </a:r>
            <a:pPr indent="0" marL="0">
              <a:buNone/>
            </a:pPr>
            <a:r>
              <a:rPr lang="en-US" sz="1200" b="1" dirty="0">
                <a:solidFill>
                  <a:srgbClr val="4E2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</a:t>
            </a:r>
            <a:pPr indent="0" marL="0">
              <a:buNone/>
            </a:pPr>
            <a:r>
              <a:rPr lang="en-US" sz="12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The spirit behind every brand.  ·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Raavon Brand Identity Guide 2026</dc:title>
  <dc:subject>PptxGenJS Presentation</dc:subject>
  <dc:creator>Raavon Group</dc:creator>
  <cp:lastModifiedBy>Raavon Group</cp:lastModifiedBy>
  <cp:revision>1</cp:revision>
  <dcterms:created xsi:type="dcterms:W3CDTF">2026-04-27T08:28:05Z</dcterms:created>
  <dcterms:modified xsi:type="dcterms:W3CDTF">2026-04-27T08:28:05Z</dcterms:modified>
</cp:coreProperties>
</file>